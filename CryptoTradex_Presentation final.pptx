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44991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8276015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9E4EC84-5CAA-44EC-8D8E-3D2E40BD7ADD}" type="datetimeFigureOut">
              <a:rPr lang="en-IN"/>
              <a:t>04-10-2025</a:t>
            </a:fld>
            <a:endParaRPr lang="en-IN"/>
          </a:p>
        </p:txBody>
      </p:sp>
      <p:sp>
        <p:nvSpPr>
          <p:cNvPr id="1778003996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IN"/>
          </a:p>
        </p:txBody>
      </p:sp>
      <p:sp>
        <p:nvSpPr>
          <p:cNvPr id="198785246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36644206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205010572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5D3DDE2-96B6-4220-B4AD-FA15A266E88A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132B53-F918-6E30-3C7F-318AD37A06E5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C28C5D-6634-1A8C-8970-151CC3B675C8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7F3214-BF5D-041E-A482-D9C68EECF2A2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BC0405-8FC0-DA50-F9BF-CE87C7C6F765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1B1731-FB6C-E23F-AD3D-909B8760D148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93437-2FF5-651A-3C92-F6744F55AA72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313580-EF9C-932A-CC67-F45B0B3A5CA5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39973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76520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854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9679-819C-07DB-19D2-19CAB71E8EA8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55211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07096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2208143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21249176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F673B60-3F0F-4964-A130-D1828BB06522}" type="datetime1">
              <a:rPr lang="en-IN"/>
              <a:t>04-10-2025</a:t>
            </a:fld>
            <a:endParaRPr lang="en-IN"/>
          </a:p>
        </p:txBody>
      </p:sp>
      <p:sp>
        <p:nvSpPr>
          <p:cNvPr id="11763334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5381566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‹#›</a:t>
            </a:fld>
            <a:endParaRPr lang="en-IN"/>
          </a:p>
        </p:txBody>
      </p:sp>
      <p:pic>
        <p:nvPicPr>
          <p:cNvPr id="167102695" name="Picture 9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27132" y="4222"/>
            <a:ext cx="1691811" cy="1073092"/>
          </a:xfrm>
          <a:prstGeom prst="rect">
            <a:avLst/>
          </a:prstGeom>
        </p:spPr>
      </p:pic>
      <p:sp>
        <p:nvSpPr>
          <p:cNvPr id="463643508" name="Arrow: Pentagon 10"/>
          <p:cNvSpPr/>
          <p:nvPr userDrawn="1"/>
        </p:nvSpPr>
        <p:spPr bwMode="auto">
          <a:xfrm>
            <a:off x="27132" y="1066732"/>
            <a:ext cx="978408" cy="484632"/>
          </a:xfrm>
          <a:prstGeom prst="homePlate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cxnSp>
        <p:nvCxnSpPr>
          <p:cNvPr id="1508153184" name="Straight Connector 12"/>
          <p:cNvCxnSpPr/>
          <p:nvPr userDrawn="1"/>
        </p:nvCxnSpPr>
        <p:spPr bwMode="auto">
          <a:xfrm>
            <a:off x="978408" y="1296960"/>
            <a:ext cx="11186460" cy="1631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5633762" name="Oval 14"/>
          <p:cNvSpPr/>
          <p:nvPr userDrawn="1"/>
        </p:nvSpPr>
        <p:spPr bwMode="auto">
          <a:xfrm>
            <a:off x="11023134" y="0"/>
            <a:ext cx="1141734" cy="1233082"/>
          </a:xfrm>
          <a:prstGeom prst="ellipse">
            <a:avLst/>
          </a:prstGeom>
          <a:blipFill>
            <a:blip r:embed="rId3"/>
            <a:stretch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9863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5878129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2256090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43B1235-ABAA-4FF9-B98D-7C88D6556A1E}" type="datetime1">
              <a:rPr lang="en-IN"/>
              <a:t>04-10-2025</a:t>
            </a:fld>
            <a:endParaRPr lang="en-IN"/>
          </a:p>
        </p:txBody>
      </p:sp>
      <p:sp>
        <p:nvSpPr>
          <p:cNvPr id="5958747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555249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‹#›</a:t>
            </a:fld>
            <a:endParaRPr lang="en-IN"/>
          </a:p>
        </p:txBody>
      </p:sp>
      <p:sp>
        <p:nvSpPr>
          <p:cNvPr id="1499467251" name="Arrow: Pentagon 8"/>
          <p:cNvSpPr/>
          <p:nvPr userDrawn="1"/>
        </p:nvSpPr>
        <p:spPr bwMode="auto">
          <a:xfrm>
            <a:off x="27132" y="1070962"/>
            <a:ext cx="978408" cy="484632"/>
          </a:xfrm>
          <a:prstGeom prst="homePlate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cxnSp>
        <p:nvCxnSpPr>
          <p:cNvPr id="1358070029" name="Straight Connector 9"/>
          <p:cNvCxnSpPr/>
          <p:nvPr userDrawn="1"/>
        </p:nvCxnSpPr>
        <p:spPr bwMode="auto">
          <a:xfrm>
            <a:off x="978408" y="1296960"/>
            <a:ext cx="11186460" cy="1631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3400847" name="Picture 11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0794370" y="0"/>
            <a:ext cx="1456501" cy="1456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1130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813017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403115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E68FFB-135E-401A-B6C8-E2AAE625E10D}" type="datetime1">
              <a:rPr lang="en-IN"/>
              <a:t>04-10-2025</a:t>
            </a:fld>
            <a:endParaRPr lang="en-IN"/>
          </a:p>
        </p:txBody>
      </p:sp>
      <p:sp>
        <p:nvSpPr>
          <p:cNvPr id="8139085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004364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775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7450979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8895855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3891979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AC9C248-FACC-4F38-AC27-6FEAF03E55EE}" type="datetime1">
              <a:rPr lang="en-IN"/>
              <a:t>04-10-2025</a:t>
            </a:fld>
            <a:endParaRPr lang="en-IN"/>
          </a:p>
        </p:txBody>
      </p:sp>
      <p:sp>
        <p:nvSpPr>
          <p:cNvPr id="74338576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82849334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5781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9687620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716173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18495263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4785717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213828352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9A427E-42D0-48C2-8BF0-7631367B4B66}" type="datetime1">
              <a:rPr lang="en-IN"/>
              <a:t>04-10-2025</a:t>
            </a:fld>
            <a:endParaRPr lang="en-IN"/>
          </a:p>
        </p:txBody>
      </p:sp>
      <p:sp>
        <p:nvSpPr>
          <p:cNvPr id="20165527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17661484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33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812275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4A0693-B0A9-4916-8BDE-8EC709CE168E}" type="datetime1">
              <a:rPr lang="en-IN"/>
              <a:t>04-10-2025</a:t>
            </a:fld>
            <a:endParaRPr lang="en-IN"/>
          </a:p>
        </p:txBody>
      </p:sp>
      <p:sp>
        <p:nvSpPr>
          <p:cNvPr id="150334215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8400422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9384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4FB4EAC-0855-4C11-992B-8D21D0E370D6}" type="datetime1">
              <a:rPr lang="en-IN"/>
              <a:t>04-10-2025</a:t>
            </a:fld>
            <a:endParaRPr lang="en-IN"/>
          </a:p>
        </p:txBody>
      </p:sp>
      <p:sp>
        <p:nvSpPr>
          <p:cNvPr id="72615353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6288349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92672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82429128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85345094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33116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901A427-44E7-4FA7-B5AF-BAE9C7DE9E7B}" type="datetime1">
              <a:rPr lang="en-IN"/>
              <a:t>04-10-2025</a:t>
            </a:fld>
            <a:endParaRPr lang="en-IN"/>
          </a:p>
        </p:txBody>
      </p:sp>
      <p:sp>
        <p:nvSpPr>
          <p:cNvPr id="18165538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8493650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15461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042781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IN"/>
          </a:p>
        </p:txBody>
      </p:sp>
      <p:sp>
        <p:nvSpPr>
          <p:cNvPr id="9173125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1110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856ABC1-0448-4868-B006-4ED682C6276D}" type="datetime1">
              <a:rPr lang="en-IN"/>
              <a:t>04-10-2025</a:t>
            </a:fld>
            <a:endParaRPr lang="en-IN"/>
          </a:p>
        </p:txBody>
      </p:sp>
      <p:sp>
        <p:nvSpPr>
          <p:cNvPr id="16064981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242698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1705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86940739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2114623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C84FB02-4DF4-45A4-801E-3251DF36C1AD}" type="datetime1">
              <a:rPr lang="en-IN"/>
              <a:t>04-10-2025</a:t>
            </a:fld>
            <a:endParaRPr lang="en-IN"/>
          </a:p>
        </p:txBody>
      </p:sp>
      <p:sp>
        <p:nvSpPr>
          <p:cNvPr id="6446966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430934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59128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6258516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3232887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1BACF88-F917-4CD6-B844-63A2C560DEAC}" type="datetime1">
              <a:rPr lang="en-IN"/>
              <a:t>04-10-2025</a:t>
            </a:fld>
            <a:endParaRPr lang="en-IN"/>
          </a:p>
        </p:txBody>
      </p:sp>
      <p:sp>
        <p:nvSpPr>
          <p:cNvPr id="21093010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618434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 amt="23000"/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17935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725572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203819901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672839-5639-4A54-854B-56F5852EF4EC}" type="datetime1">
              <a:rPr lang="en-IN"/>
              <a:t>04-10-2025</a:t>
            </a:fld>
            <a:endParaRPr lang="en-IN"/>
          </a:p>
        </p:txBody>
      </p:sp>
      <p:sp>
        <p:nvSpPr>
          <p:cNvPr id="60829221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6008114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80E33B-3B1D-41CF-87B6-71715FF43E8C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../../Desktop/CryptoTradeX/architecture.png" TargetMode="External"/><Relationship Id="rId7" Type="http://schemas.openxmlformats.org/officeDocument/2006/relationships/hyperlink" Target="../../../../../../../Desktop/CryptoTradeX/dfd.p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../../../../../../../Desktop/CryptoTradeX/usecase.pdf" TargetMode="External"/><Relationship Id="rId5" Type="http://schemas.openxmlformats.org/officeDocument/2006/relationships/hyperlink" Target="../../../../../../../Desktop/CryptoTradeX/datadiagram.png" TargetMode="External"/><Relationship Id="rId4" Type="http://schemas.openxmlformats.org/officeDocument/2006/relationships/hyperlink" Target="../../../../../../../Desktop/CryptoTradeX/sequence.p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stripe.com/" TargetMode="External"/><Relationship Id="rId3" Type="http://schemas.openxmlformats.org/officeDocument/2006/relationships/hyperlink" Target="https://www.coingecko.com/" TargetMode="External"/><Relationship Id="rId7" Type="http://schemas.openxmlformats.org/officeDocument/2006/relationships/hyperlink" Target="https://razorpay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ermaidchart.com/" TargetMode="External"/><Relationship Id="rId5" Type="http://schemas.openxmlformats.org/officeDocument/2006/relationships/hyperlink" Target="https://www.eraser.io/" TargetMode="External"/><Relationship Id="rId4" Type="http://schemas.openxmlformats.org/officeDocument/2006/relationships/hyperlink" Target="https://www.gemini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959942" name="Title 1"/>
          <p:cNvSpPr>
            <a:spLocks noGrp="1"/>
          </p:cNvSpPr>
          <p:nvPr>
            <p:ph type="ctrTitle"/>
          </p:nvPr>
        </p:nvSpPr>
        <p:spPr bwMode="auto">
          <a:xfrm>
            <a:off x="1460622" y="1494941"/>
            <a:ext cx="9144000" cy="124193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i="0" u="none" strike="noStrike" dirty="0" err="1">
                <a:latin typeface="CIDFont+F1"/>
              </a:rPr>
              <a:t>Sarvajanik</a:t>
            </a:r>
            <a:r>
              <a:rPr lang="en-US" sz="3200" i="0" u="none" strike="noStrike" dirty="0">
                <a:latin typeface="CIDFont+F1"/>
              </a:rPr>
              <a:t> College of Engineering and Technology</a:t>
            </a:r>
            <a:br>
              <a:rPr lang="en-US" sz="2400" b="0" i="0" u="none" strike="noStrike" dirty="0">
                <a:latin typeface="CIDFont+F1"/>
              </a:rPr>
            </a:br>
            <a:r>
              <a:rPr lang="en-US" sz="2400" dirty="0">
                <a:latin typeface="CIDFont+F1"/>
              </a:rPr>
              <a:t>Department of </a:t>
            </a:r>
            <a:r>
              <a:rPr lang="en-US" sz="2400" b="0" u="none" strike="noStrike" dirty="0">
                <a:latin typeface="CIDFont+F1"/>
              </a:rPr>
              <a:t>Information and Technology</a:t>
            </a:r>
            <a:br>
              <a:rPr lang="en-US" sz="2400" b="0" i="1" u="none" strike="noStrike" dirty="0">
                <a:latin typeface="CIDFont+F1"/>
              </a:rPr>
            </a:br>
            <a:br>
              <a:rPr lang="en-US" sz="2400" b="0" i="0" u="none" strike="noStrike" dirty="0">
                <a:latin typeface="CIDFont+F1"/>
              </a:rPr>
            </a:br>
            <a:r>
              <a:rPr lang="en-IN" sz="2400" b="0" i="0" u="none" strike="noStrike" dirty="0">
                <a:latin typeface="CIDFont+F1"/>
              </a:rPr>
              <a:t>Subject: Project-I                    Code: BTIT16701</a:t>
            </a:r>
            <a:endParaRPr lang="en-IN" sz="2400" dirty="0"/>
          </a:p>
        </p:txBody>
      </p:sp>
      <p:sp>
        <p:nvSpPr>
          <p:cNvPr id="1745975218" name="Subtitle 2"/>
          <p:cNvSpPr>
            <a:spLocks noGrp="1"/>
          </p:cNvSpPr>
          <p:nvPr>
            <p:ph type="subTitle" idx="1"/>
          </p:nvPr>
        </p:nvSpPr>
        <p:spPr bwMode="auto">
          <a:xfrm>
            <a:off x="251012" y="4470400"/>
            <a:ext cx="6033247" cy="2262094"/>
          </a:xfrm>
        </p:spPr>
        <p:txBody>
          <a:bodyPr>
            <a:normAutofit fontScale="92500" lnSpcReduction="20000"/>
          </a:bodyPr>
          <a:lstStyle/>
          <a:p>
            <a:pPr algn="l">
              <a:defRPr/>
            </a:pPr>
            <a:r>
              <a:rPr lang="en-US" b="1"/>
              <a:t>Presented By:</a:t>
            </a:r>
            <a:endParaRPr/>
          </a:p>
          <a:p>
            <a:pPr marL="457200" indent="-457200" algn="l">
              <a:buFont typeface="+mj-lt"/>
              <a:buAutoNum type="arabicPeriod"/>
              <a:defRPr/>
            </a:pPr>
            <a:r>
              <a:rPr lang="en-US"/>
              <a:t>Arham Shah   [ET22BTIT003]</a:t>
            </a:r>
            <a:endParaRPr/>
          </a:p>
          <a:p>
            <a:pPr marL="457200" indent="-457200" algn="l">
              <a:buFont typeface="+mj-lt"/>
              <a:buAutoNum type="arabicPeriod"/>
              <a:defRPr/>
            </a:pPr>
            <a:r>
              <a:rPr lang="en-US"/>
              <a:t>Dave Dhruv    [ET22BTIT016]</a:t>
            </a:r>
            <a:endParaRPr/>
          </a:p>
          <a:p>
            <a:pPr marL="457200" indent="-457200" algn="l">
              <a:buFont typeface="+mj-lt"/>
              <a:buAutoNum type="arabicPeriod"/>
              <a:defRPr/>
            </a:pPr>
            <a:r>
              <a:rPr lang="en-US"/>
              <a:t>Desai Parth     [ET22BTIT019]</a:t>
            </a:r>
            <a:endParaRPr/>
          </a:p>
          <a:p>
            <a:pPr marL="457200" indent="-457200" algn="l">
              <a:buFont typeface="+mj-lt"/>
              <a:buAutoNum type="arabicPeriod"/>
              <a:defRPr/>
            </a:pPr>
            <a:r>
              <a:rPr lang="en-US"/>
              <a:t>Godhani Neel [ET22BTIT037]</a:t>
            </a:r>
            <a:endParaRPr/>
          </a:p>
          <a:p>
            <a:pPr marL="457200" indent="-457200" algn="l">
              <a:buFont typeface="+mj-lt"/>
              <a:buAutoNum type="arabicPeriod"/>
              <a:defRPr/>
            </a:pPr>
            <a:r>
              <a:rPr lang="en-US"/>
              <a:t>Veer Shekhda [ET23BTIT811]</a:t>
            </a:r>
            <a:endParaRPr/>
          </a:p>
          <a:p>
            <a:pPr marL="457200" indent="-457200" algn="l">
              <a:buFont typeface="+mj-lt"/>
              <a:buAutoNum type="arabicPeriod"/>
              <a:defRPr/>
            </a:pPr>
            <a:endParaRPr lang="en-US"/>
          </a:p>
          <a:p>
            <a:pPr marL="457200" indent="-457200" algn="l">
              <a:buFont typeface="+mj-lt"/>
              <a:buAutoNum type="arabicPeriod"/>
              <a:defRPr/>
            </a:pPr>
            <a:endParaRPr lang="en-US"/>
          </a:p>
        </p:txBody>
      </p:sp>
      <p:sp>
        <p:nvSpPr>
          <p:cNvPr id="2051282550" name="Subtitle 2"/>
          <p:cNvSpPr txBox="1"/>
          <p:nvPr/>
        </p:nvSpPr>
        <p:spPr bwMode="auto">
          <a:xfrm>
            <a:off x="7709648" y="5451196"/>
            <a:ext cx="4392705" cy="119407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 dirty="0"/>
              <a:t>Supervised By</a:t>
            </a:r>
            <a:r>
              <a:rPr lang="en-US" dirty="0"/>
              <a:t>: </a:t>
            </a:r>
            <a:endParaRPr dirty="0"/>
          </a:p>
          <a:p>
            <a:pPr>
              <a:defRPr/>
            </a:pPr>
            <a:r>
              <a:rPr lang="en-US"/>
              <a:t>Prof</a:t>
            </a:r>
            <a:r>
              <a:rPr lang="en-US" dirty="0"/>
              <a:t>. Mukesh Patel</a:t>
            </a:r>
            <a:endParaRPr dirty="0"/>
          </a:p>
          <a:p>
            <a:pPr>
              <a:defRPr/>
            </a:pPr>
            <a:r>
              <a:rPr lang="en-US" sz="1800" i="1" dirty="0"/>
              <a:t>(Dept. of I.T.)</a:t>
            </a:r>
            <a:endParaRPr dirty="0"/>
          </a:p>
        </p:txBody>
      </p:sp>
      <p:sp>
        <p:nvSpPr>
          <p:cNvPr id="1915271438" name="Title 1"/>
          <p:cNvSpPr txBox="1"/>
          <p:nvPr/>
        </p:nvSpPr>
        <p:spPr bwMode="auto">
          <a:xfrm>
            <a:off x="1524000" y="3599109"/>
            <a:ext cx="9144000" cy="13695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3200" b="1" i="0" u="none">
                <a:latin typeface="Segoe UI"/>
                <a:cs typeface="Segoe UI"/>
              </a:rPr>
              <a:t>CryptoTradex: AI-Integrated Cryptocurrency Trading Platform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:fade/>
      </p:transition>
    </mc:Choice>
    <mc:Fallback xmlns="" xmlns:m="http://schemas.openxmlformats.org/officeDocument/2006/math" xmlns:w="http://schemas.openxmlformats.org/wordprocessingml/2006/main">
      <p:transition spd="slow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36287" name="Title 1"/>
          <p:cNvSpPr>
            <a:spLocks noGrp="1"/>
          </p:cNvSpPr>
          <p:nvPr>
            <p:ph type="title"/>
          </p:nvPr>
        </p:nvSpPr>
        <p:spPr bwMode="auto">
          <a:xfrm>
            <a:off x="838200" y="2812848"/>
            <a:ext cx="10312400" cy="494338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/>
          </a:bodyPr>
          <a:lstStyle/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sz="2800" b="1" dirty="0" err="1"/>
              <a:t>CryptoTradeX</a:t>
            </a:r>
            <a:r>
              <a:rPr sz="2800" dirty="0"/>
              <a:t> is a secure, scalable, and user-friendly cryptocurrency trading </a:t>
            </a:r>
            <a:r>
              <a:rPr sz="2800" dirty="0" err="1"/>
              <a:t>platform.</a:t>
            </a:r>
            <a:r>
              <a:rPr lang="en-US" sz="2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simplify crypto trading for both </a:t>
            </a: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beginners and advanced traders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ensuring smooth user experience and robust security.</a:t>
            </a:r>
            <a:endParaRPr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sz="2800" dirty="0"/>
              <a:t>It integrates </a:t>
            </a:r>
            <a:r>
              <a:rPr sz="2800" b="1" dirty="0"/>
              <a:t>AI-powered chat assistance, real-time market insights</a:t>
            </a:r>
            <a:r>
              <a:rPr sz="2800" dirty="0"/>
              <a:t>, and </a:t>
            </a:r>
            <a:r>
              <a:rPr lang="en-US" sz="2800" dirty="0"/>
              <a:t>     </a:t>
            </a:r>
            <a:r>
              <a:rPr sz="2800" b="1" dirty="0"/>
              <a:t>advanced wallet features</a:t>
            </a:r>
            <a:r>
              <a:rPr sz="2800" dirty="0"/>
              <a:t> into a unified ecosystem.</a:t>
            </a:r>
            <a:endParaRPr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b="1" dirty="0"/>
              <a:t>Relevance</a:t>
            </a:r>
            <a:r>
              <a:rPr lang="en-US" sz="2700" dirty="0"/>
              <a:t>:</a:t>
            </a:r>
            <a:br>
              <a:rPr lang="en-US" sz="2700" dirty="0"/>
            </a:br>
            <a:r>
              <a:rPr lang="en-US" sz="2700" dirty="0"/>
              <a:t>-- Global crypto adoption is expected to exceed 560 million users in 2025,with         </a:t>
            </a:r>
            <a:br>
              <a:rPr lang="en-US" sz="2700" dirty="0"/>
            </a:br>
            <a:r>
              <a:rPr lang="en-US" sz="2700" dirty="0"/>
              <a:t>    India ranking among the top countries in adoption.</a:t>
            </a:r>
            <a:br>
              <a:rPr lang="en-US" sz="2700" dirty="0"/>
            </a:br>
            <a:r>
              <a:rPr lang="en-US" sz="2700" dirty="0"/>
              <a:t>-- Most existing platforms overwhelm users with complexity; 70% of new</a:t>
            </a:r>
            <a:br>
              <a:rPr lang="en-US" sz="2700" dirty="0"/>
            </a:br>
            <a:r>
              <a:rPr lang="en-US" sz="2700" dirty="0"/>
              <a:t>    investors report difficulty in understanding crypto interfaces.</a:t>
            </a:r>
            <a:br>
              <a:rPr lang="en-US" sz="2700" dirty="0"/>
            </a:br>
            <a:r>
              <a:rPr lang="en-US" sz="2700" dirty="0"/>
              <a:t>-- Security incidents like exchange hacks and wallet breaches highlight the</a:t>
            </a:r>
            <a:br>
              <a:rPr lang="en-US" sz="2700" dirty="0"/>
            </a:br>
            <a:r>
              <a:rPr lang="en-US" sz="2700" dirty="0"/>
              <a:t>    urgent need for strong, multi-layered protection.</a:t>
            </a:r>
            <a:br>
              <a:rPr lang="en-US" dirty="0"/>
            </a:br>
            <a:br>
              <a:rPr lang="en-IN" sz="2800" b="1" dirty="0"/>
            </a:br>
            <a:br>
              <a:rPr lang="en-IN" sz="2800" b="1" dirty="0"/>
            </a:br>
            <a:br>
              <a:rPr lang="en-IN" sz="2800" b="1" dirty="0"/>
            </a:br>
            <a:br>
              <a:rPr lang="en-IN" sz="2800" b="1" dirty="0"/>
            </a:br>
            <a:br>
              <a:rPr lang="en-IN" sz="2800" b="1" dirty="0"/>
            </a:br>
            <a:br>
              <a:rPr lang="en-IN" sz="2800" dirty="0"/>
            </a:br>
            <a:endParaRPr sz="2800" dirty="0"/>
          </a:p>
        </p:txBody>
      </p:sp>
      <p:sp>
        <p:nvSpPr>
          <p:cNvPr id="49620147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2</a:t>
            </a:fld>
            <a:endParaRPr lang="en-IN"/>
          </a:p>
        </p:txBody>
      </p:sp>
      <p:sp>
        <p:nvSpPr>
          <p:cNvPr id="438238679" name="TextBox 4"/>
          <p:cNvSpPr txBox="1"/>
          <p:nvPr/>
        </p:nvSpPr>
        <p:spPr bwMode="auto">
          <a:xfrm>
            <a:off x="1048265" y="515183"/>
            <a:ext cx="80088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4800">
                <a:latin typeface="+mj-lt"/>
              </a:rPr>
              <a:t>Introduction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:pull/>
      </p:transition>
    </mc:Choice>
    <mc:Fallback xmlns="" xmlns:m="http://schemas.openxmlformats.org/officeDocument/2006/math" xmlns:w="http://schemas.openxmlformats.org/wordprocessingml/2006/main">
      <p:transition spd="slow" advClick="1">
        <p:pull dir="l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788860" name="Title 1"/>
          <p:cNvSpPr>
            <a:spLocks noGrp="1"/>
          </p:cNvSpPr>
          <p:nvPr>
            <p:ph type="title"/>
          </p:nvPr>
        </p:nvSpPr>
        <p:spPr bwMode="auto">
          <a:xfrm>
            <a:off x="838200" y="423168"/>
            <a:ext cx="9478256" cy="111856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IN"/>
              <a:t>Problem Definition</a:t>
            </a:r>
            <a:endParaRPr/>
          </a:p>
        </p:txBody>
      </p:sp>
      <p:sp>
        <p:nvSpPr>
          <p:cNvPr id="324279740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4"/>
            <a:ext cx="10515600" cy="47783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For beginners, most crypto platforms feel like stepping into a </a:t>
            </a:r>
            <a:r>
              <a:rPr lang="en-US" sz="2400" i="1" dirty="0">
                <a:latin typeface="+mj-lt"/>
              </a:rPr>
              <a:t>spaceship cockpit </a:t>
            </a:r>
            <a:r>
              <a:rPr lang="en-US" sz="2400" dirty="0">
                <a:latin typeface="+mj-lt"/>
              </a:rPr>
              <a:t>— complex, overwhelming, and intimidating.</a:t>
            </a:r>
            <a:endParaRPr dirty="0"/>
          </a:p>
          <a:p>
            <a:pPr>
              <a:defRPr/>
            </a:pPr>
            <a:r>
              <a:rPr lang="en-US" sz="2400" dirty="0">
                <a:latin typeface="+mj-lt"/>
              </a:rPr>
              <a:t>Existing exchanges (Binance, Coinbase, </a:t>
            </a:r>
            <a:r>
              <a:rPr lang="en-US" sz="2400" dirty="0" err="1">
                <a:latin typeface="+mj-lt"/>
              </a:rPr>
              <a:t>WazirX</a:t>
            </a:r>
            <a:r>
              <a:rPr lang="en-US" sz="2400" dirty="0">
                <a:latin typeface="+mj-lt"/>
              </a:rPr>
              <a:t>) are powerful, but not beginner-friendly.</a:t>
            </a:r>
            <a:endParaRPr dirty="0"/>
          </a:p>
          <a:p>
            <a:pPr>
              <a:defRPr/>
            </a:pPr>
            <a:r>
              <a:rPr lang="en-US" sz="2400" dirty="0">
                <a:latin typeface="+mj-lt"/>
              </a:rPr>
              <a:t>Limited </a:t>
            </a:r>
            <a:r>
              <a:rPr lang="en-US" sz="2400" b="1" dirty="0">
                <a:latin typeface="+mj-lt"/>
              </a:rPr>
              <a:t>real-time data integration</a:t>
            </a:r>
            <a:r>
              <a:rPr lang="en-US" sz="2400" dirty="0">
                <a:latin typeface="+mj-lt"/>
              </a:rPr>
              <a:t> leaves users unsure if they’re seeing the full market picture.</a:t>
            </a:r>
            <a:endParaRPr dirty="0">
              <a:latin typeface="+mj-lt"/>
            </a:endParaRPr>
          </a:p>
          <a:p>
            <a:pPr>
              <a:defRPr/>
            </a:pPr>
            <a:r>
              <a:rPr lang="en-US" sz="2400" dirty="0">
                <a:latin typeface="+mj-lt"/>
              </a:rPr>
              <a:t>No </a:t>
            </a:r>
            <a:r>
              <a:rPr lang="en-US" sz="2400" b="1" dirty="0">
                <a:latin typeface="+mj-lt"/>
              </a:rPr>
              <a:t>AI assistant </a:t>
            </a:r>
            <a:r>
              <a:rPr lang="en-US" sz="2400" dirty="0">
                <a:latin typeface="+mj-lt"/>
              </a:rPr>
              <a:t>to explain trends or answer instant queries in simple language.</a:t>
            </a:r>
            <a:endParaRPr dirty="0"/>
          </a:p>
          <a:p>
            <a:pPr>
              <a:defRPr/>
            </a:pPr>
            <a:r>
              <a:rPr lang="en-US" sz="2400" dirty="0">
                <a:latin typeface="+mj-lt"/>
              </a:rPr>
              <a:t>Wallet functions are </a:t>
            </a:r>
            <a:r>
              <a:rPr lang="en-US" sz="2400" b="1" dirty="0">
                <a:latin typeface="+mj-lt"/>
              </a:rPr>
              <a:t>scattered across multiple apps</a:t>
            </a:r>
            <a:r>
              <a:rPr lang="en-US" sz="2400" dirty="0">
                <a:latin typeface="+mj-lt"/>
              </a:rPr>
              <a:t> → trading, transfers, and tracking feel disconnected.</a:t>
            </a:r>
            <a:endParaRPr dirty="0"/>
          </a:p>
          <a:p>
            <a:pPr>
              <a:defRPr/>
            </a:pPr>
            <a:r>
              <a:rPr lang="en-US" sz="2400" b="1" dirty="0">
                <a:latin typeface="+mj-lt"/>
              </a:rPr>
              <a:t>The gap</a:t>
            </a:r>
            <a:r>
              <a:rPr lang="en-US" sz="2400" dirty="0">
                <a:latin typeface="+mj-lt"/>
              </a:rPr>
              <a:t>: Crypto should democratize finance, but current tools often confuse or exclude new users</a:t>
            </a:r>
            <a:r>
              <a:rPr dirty="0"/>
              <a:t>.</a:t>
            </a:r>
          </a:p>
          <a:p>
            <a:pPr>
              <a:defRPr/>
            </a:pPr>
            <a:endParaRPr lang="en-IN" sz="2400" dirty="0">
              <a:latin typeface="+mj-lt"/>
            </a:endParaRPr>
          </a:p>
        </p:txBody>
      </p:sp>
      <p:sp>
        <p:nvSpPr>
          <p:cNvPr id="5385741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3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:push dir="u"/>
      </p:transition>
    </mc:Choice>
    <mc:Fallback xmlns="" xmlns:m="http://schemas.openxmlformats.org/officeDocument/2006/math" xmlns:w="http://schemas.openxmlformats.org/wordprocessingml/2006/main">
      <p:transition spd="slow" advClick="1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699104" name="Title 1"/>
          <p:cNvSpPr>
            <a:spLocks noGrp="1"/>
          </p:cNvSpPr>
          <p:nvPr>
            <p:ph type="title"/>
          </p:nvPr>
        </p:nvSpPr>
        <p:spPr bwMode="auto">
          <a:xfrm>
            <a:off x="838200" y="32067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IN"/>
              <a:t>Motivation</a:t>
            </a:r>
            <a:endParaRPr/>
          </a:p>
        </p:txBody>
      </p:sp>
      <p:sp>
        <p:nvSpPr>
          <p:cNvPr id="14476001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lt"/>
              </a:rPr>
              <a:t>Increasing adoption of cryptocurrencies in India and globally creates demand for </a:t>
            </a:r>
            <a:r>
              <a:rPr lang="en-US" b="1" dirty="0">
                <a:latin typeface="+mj-lt"/>
              </a:rPr>
              <a:t>simpler</a:t>
            </a:r>
            <a:r>
              <a:rPr lang="en-US" dirty="0">
                <a:latin typeface="+mj-lt"/>
              </a:rPr>
              <a:t>, </a:t>
            </a:r>
            <a:r>
              <a:rPr lang="en-US" b="1" dirty="0">
                <a:latin typeface="+mj-lt"/>
              </a:rPr>
              <a:t>smarter platforms</a:t>
            </a:r>
            <a:r>
              <a:rPr lang="en-US" dirty="0">
                <a:latin typeface="+mj-lt"/>
              </a:rPr>
              <a:t>.</a:t>
            </a:r>
            <a:endParaRPr dirty="0">
              <a:latin typeface="+mj-lt"/>
            </a:endParaRPr>
          </a:p>
          <a:p>
            <a:pPr>
              <a:defRPr/>
            </a:pPr>
            <a:r>
              <a:rPr lang="en-US" dirty="0">
                <a:latin typeface="+mj-lt"/>
              </a:rPr>
              <a:t> Users struggle with </a:t>
            </a:r>
            <a:r>
              <a:rPr lang="en-US" b="1" dirty="0">
                <a:latin typeface="+mj-lt"/>
              </a:rPr>
              <a:t>information overload, scattered tools</a:t>
            </a:r>
            <a:r>
              <a:rPr lang="en-US" dirty="0">
                <a:latin typeface="+mj-lt"/>
              </a:rPr>
              <a:t>, and </a:t>
            </a:r>
            <a:r>
              <a:rPr lang="en-US" b="1" dirty="0">
                <a:latin typeface="+mj-lt"/>
              </a:rPr>
              <a:t>lack of guidance </a:t>
            </a:r>
            <a:r>
              <a:rPr lang="en-US" dirty="0">
                <a:latin typeface="+mj-lt"/>
              </a:rPr>
              <a:t>in existing exchanges.</a:t>
            </a:r>
            <a:endParaRPr dirty="0">
              <a:latin typeface="+mj-lt"/>
            </a:endParaRPr>
          </a:p>
          <a:p>
            <a:pPr>
              <a:defRPr/>
            </a:pPr>
            <a:r>
              <a:rPr lang="en-US" dirty="0">
                <a:latin typeface="+mj-lt"/>
              </a:rPr>
              <a:t>Security breaches in exchanges highlight the </a:t>
            </a:r>
            <a:r>
              <a:rPr lang="en-US" b="1" dirty="0">
                <a:latin typeface="+mj-lt"/>
              </a:rPr>
              <a:t>need for strong authentication and safe wallet management</a:t>
            </a:r>
            <a:r>
              <a:rPr lang="en-US" dirty="0">
                <a:latin typeface="+mj-lt"/>
              </a:rPr>
              <a:t>.</a:t>
            </a:r>
            <a:endParaRPr dirty="0">
              <a:latin typeface="+mj-lt"/>
            </a:endParaRPr>
          </a:p>
          <a:p>
            <a:pPr>
              <a:defRPr/>
            </a:pPr>
            <a:r>
              <a:rPr lang="en-US" dirty="0">
                <a:latin typeface="+mj-lt"/>
              </a:rPr>
              <a:t>Our motivation: To build a </a:t>
            </a:r>
            <a:r>
              <a:rPr lang="en-US" b="1" dirty="0">
                <a:latin typeface="+mj-lt"/>
              </a:rPr>
              <a:t>secure, AI-assisted, and beginner-friendly trading ecosystem</a:t>
            </a:r>
            <a:r>
              <a:rPr lang="en-US" dirty="0">
                <a:latin typeface="+mj-lt"/>
              </a:rPr>
              <a:t> that combines </a:t>
            </a:r>
            <a:r>
              <a:rPr lang="en-US" b="1" dirty="0">
                <a:latin typeface="+mj-lt"/>
              </a:rPr>
              <a:t>trading, portfolio tracking, and wallet management</a:t>
            </a:r>
            <a:r>
              <a:rPr lang="en-US" dirty="0">
                <a:latin typeface="+mj-lt"/>
              </a:rPr>
              <a:t> seamlessly.</a:t>
            </a:r>
            <a:endParaRPr lang="en-IN" dirty="0">
              <a:latin typeface="+mj-lt"/>
            </a:endParaRPr>
          </a:p>
        </p:txBody>
      </p:sp>
      <p:sp>
        <p:nvSpPr>
          <p:cNvPr id="127164342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4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:push dir="u"/>
      </p:transition>
    </mc:Choice>
    <mc:Fallback xmlns="" xmlns:m="http://schemas.openxmlformats.org/officeDocument/2006/math" xmlns:w="http://schemas.openxmlformats.org/wordprocessingml/2006/main">
      <p:transition spd="slow" advClick="1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4039" name="Title 1"/>
          <p:cNvSpPr>
            <a:spLocks noGrp="1"/>
          </p:cNvSpPr>
          <p:nvPr>
            <p:ph type="title"/>
          </p:nvPr>
        </p:nvSpPr>
        <p:spPr bwMode="auto">
          <a:xfrm>
            <a:off x="838200" y="32067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IN"/>
              <a:t>Methodology</a:t>
            </a:r>
            <a:endParaRPr/>
          </a:p>
        </p:txBody>
      </p:sp>
      <p:sp>
        <p:nvSpPr>
          <p:cNvPr id="39953820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45000" lnSpcReduction="20000"/>
          </a:bodyPr>
          <a:lstStyle/>
          <a:p>
            <a:pPr marL="0" indent="0">
              <a:buNone/>
              <a:defRPr/>
            </a:pPr>
            <a:r>
              <a:rPr lang="en-IN" sz="4200" b="1" dirty="0">
                <a:latin typeface="+mj-lt"/>
              </a:rPr>
              <a:t>Approach &amp; Technologies :</a:t>
            </a:r>
            <a:endParaRPr dirty="0"/>
          </a:p>
          <a:p>
            <a:pPr>
              <a:defRPr/>
            </a:pPr>
            <a:r>
              <a:rPr lang="en-IN" sz="4200" b="1" dirty="0">
                <a:latin typeface="+mj-lt"/>
              </a:rPr>
              <a:t>Frontend</a:t>
            </a:r>
            <a:r>
              <a:rPr lang="en-IN" sz="4200" dirty="0">
                <a:latin typeface="+mj-lt"/>
              </a:rPr>
              <a:t>: React, Tailwind CSS, Redux, React Router DOM, </a:t>
            </a:r>
            <a:r>
              <a:rPr lang="en-IN" sz="4200" dirty="0" err="1">
                <a:latin typeface="+mj-lt"/>
              </a:rPr>
              <a:t>Shadcn</a:t>
            </a:r>
            <a:r>
              <a:rPr lang="en-IN" sz="4200" dirty="0">
                <a:latin typeface="+mj-lt"/>
              </a:rPr>
              <a:t> UI → ensures responsive, modern interface.</a:t>
            </a:r>
            <a:endParaRPr dirty="0"/>
          </a:p>
          <a:p>
            <a:pPr>
              <a:defRPr/>
            </a:pPr>
            <a:r>
              <a:rPr lang="en-IN" sz="4200" b="1" dirty="0">
                <a:latin typeface="+mj-lt"/>
              </a:rPr>
              <a:t>Backend</a:t>
            </a:r>
            <a:r>
              <a:rPr lang="en-IN" sz="4200" dirty="0">
                <a:latin typeface="+mj-lt"/>
              </a:rPr>
              <a:t>: Spring Boot, MySQL, Spring Security, Java Mail Sender → secure, scalable server-side management.</a:t>
            </a:r>
            <a:endParaRPr dirty="0"/>
          </a:p>
          <a:p>
            <a:pPr>
              <a:defRPr/>
            </a:pPr>
            <a:r>
              <a:rPr lang="en-IN" sz="4200" b="1" dirty="0">
                <a:latin typeface="+mj-lt"/>
              </a:rPr>
              <a:t>APIs</a:t>
            </a:r>
            <a:r>
              <a:rPr lang="en-IN" sz="4200" dirty="0">
                <a:latin typeface="+mj-lt"/>
              </a:rPr>
              <a:t>: Gemini API, </a:t>
            </a:r>
            <a:r>
              <a:rPr lang="en-IN" sz="4200" dirty="0" err="1">
                <a:latin typeface="+mj-lt"/>
              </a:rPr>
              <a:t>CoinGecko</a:t>
            </a:r>
            <a:r>
              <a:rPr lang="en-IN" sz="4200" dirty="0">
                <a:latin typeface="+mj-lt"/>
              </a:rPr>
              <a:t> API → provide live crypto prices, historical data, and market analytics.</a:t>
            </a:r>
            <a:endParaRPr dirty="0"/>
          </a:p>
          <a:p>
            <a:pPr>
              <a:defRPr/>
            </a:pPr>
            <a:r>
              <a:rPr lang="en-IN" sz="4200" b="1" dirty="0">
                <a:latin typeface="+mj-lt"/>
              </a:rPr>
              <a:t>Payments</a:t>
            </a:r>
            <a:r>
              <a:rPr lang="en-IN" sz="4200" dirty="0">
                <a:latin typeface="+mj-lt"/>
              </a:rPr>
              <a:t>: </a:t>
            </a:r>
            <a:r>
              <a:rPr lang="en-IN" sz="4200" dirty="0" err="1">
                <a:latin typeface="+mj-lt"/>
              </a:rPr>
              <a:t>Razorpay</a:t>
            </a:r>
            <a:r>
              <a:rPr lang="en-IN" sz="4200" dirty="0">
                <a:latin typeface="+mj-lt"/>
              </a:rPr>
              <a:t>, Stripe → enable secure fiat-to-crypto transactions.</a:t>
            </a:r>
            <a:endParaRPr dirty="0"/>
          </a:p>
          <a:p>
            <a:pPr>
              <a:defRPr/>
            </a:pPr>
            <a:r>
              <a:rPr lang="en-IN" sz="4200" b="1" dirty="0">
                <a:latin typeface="+mj-lt"/>
              </a:rPr>
              <a:t>System Flow:</a:t>
            </a:r>
            <a:endParaRPr dirty="0"/>
          </a:p>
          <a:p>
            <a:pPr marL="0" indent="0">
              <a:buNone/>
              <a:defRPr/>
            </a:pPr>
            <a:r>
              <a:rPr lang="en-IN" sz="4000" dirty="0">
                <a:latin typeface="+mj-lt"/>
              </a:rPr>
              <a:t>	</a:t>
            </a:r>
            <a:r>
              <a:rPr lang="en-IN" sz="4000" dirty="0">
                <a:latin typeface="Calibri"/>
                <a:ea typeface="Calibri"/>
                <a:cs typeface="Calibri"/>
              </a:rPr>
              <a:t>1. </a:t>
            </a:r>
            <a:r>
              <a:rPr sz="4000" b="0" i="0" u="none" dirty="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3" action="ppaction://hlinkfile"/>
              </a:rPr>
              <a:t>Architecture Diagram</a:t>
            </a:r>
            <a:endParaRPr sz="40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IN" sz="4000" dirty="0">
                <a:latin typeface="Calibri"/>
                <a:ea typeface="Calibri"/>
                <a:cs typeface="Calibri"/>
              </a:rPr>
              <a:t>	2. </a:t>
            </a:r>
            <a:r>
              <a:rPr sz="4000" b="0" i="0" u="none" dirty="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4" action="ppaction://hlinkfile"/>
              </a:rPr>
              <a:t>Sequence Diagram</a:t>
            </a:r>
            <a:endParaRPr sz="40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IN" sz="4000" dirty="0">
                <a:latin typeface="Calibri"/>
                <a:ea typeface="Calibri"/>
                <a:cs typeface="Calibri"/>
              </a:rPr>
              <a:t>	3. </a:t>
            </a:r>
            <a:r>
              <a:rPr sz="4000" b="0" i="0" u="none" dirty="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5" action="ppaction://hlinkfile"/>
              </a:rPr>
              <a:t>Data Dictionary</a:t>
            </a:r>
            <a:endParaRPr sz="40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IN" sz="4000" dirty="0">
                <a:latin typeface="Calibri"/>
                <a:ea typeface="Calibri"/>
                <a:cs typeface="Calibri"/>
              </a:rPr>
              <a:t>	4. </a:t>
            </a:r>
            <a:r>
              <a:rPr sz="4000" b="0" i="0" u="none" dirty="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6" action="ppaction://hlinkfile"/>
              </a:rPr>
              <a:t>Use Case Diagram</a:t>
            </a:r>
            <a:endParaRPr sz="40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IN" sz="4000" dirty="0">
                <a:latin typeface="Calibri"/>
                <a:ea typeface="Calibri"/>
                <a:cs typeface="Calibri"/>
              </a:rPr>
              <a:t>	5. </a:t>
            </a:r>
            <a:r>
              <a:rPr sz="4000" b="0" i="0" u="none" dirty="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7" action="ppaction://hlinkfile"/>
              </a:rPr>
              <a:t>Data Flow Diagram (DFD)</a:t>
            </a:r>
            <a:endParaRPr sz="4000" dirty="0"/>
          </a:p>
          <a:p>
            <a:pPr>
              <a:defRPr/>
            </a:pPr>
            <a:endParaRPr lang="en-IN" dirty="0"/>
          </a:p>
        </p:txBody>
      </p:sp>
      <p:sp>
        <p:nvSpPr>
          <p:cNvPr id="5536118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5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:push dir="u"/>
      </p:transition>
    </mc:Choice>
    <mc:Fallback xmlns="" xmlns:m="http://schemas.openxmlformats.org/officeDocument/2006/math" xmlns:w="http://schemas.openxmlformats.org/wordprocessingml/2006/main">
      <p:transition spd="slow" advClick="1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D7F7BB49-75AA-BA25-1365-FD67D328E2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6238"/>
            <a:ext cx="12191999" cy="5211761"/>
          </a:xfrm>
        </p:spPr>
      </p:pic>
      <p:sp>
        <p:nvSpPr>
          <p:cNvPr id="1794725686" name="Title 1"/>
          <p:cNvSpPr>
            <a:spLocks noGrp="1"/>
          </p:cNvSpPr>
          <p:nvPr>
            <p:ph type="title"/>
          </p:nvPr>
        </p:nvSpPr>
        <p:spPr bwMode="auto">
          <a:xfrm>
            <a:off x="838200" y="32067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Timeline Chart for Project Work</a:t>
            </a:r>
            <a:endParaRPr dirty="0"/>
          </a:p>
        </p:txBody>
      </p:sp>
      <p:sp>
        <p:nvSpPr>
          <p:cNvPr id="63532525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6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:push dir="u"/>
      </p:transition>
    </mc:Choice>
    <mc:Fallback xmlns="" xmlns:m="http://schemas.openxmlformats.org/officeDocument/2006/math" xmlns:w="http://schemas.openxmlformats.org/wordprocessingml/2006/main">
      <p:transition spd="slow" advClick="1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045067" name="Title 1"/>
          <p:cNvSpPr>
            <a:spLocks noGrp="1"/>
          </p:cNvSpPr>
          <p:nvPr>
            <p:ph type="title"/>
          </p:nvPr>
        </p:nvSpPr>
        <p:spPr bwMode="auto">
          <a:xfrm>
            <a:off x="838200" y="32067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IN"/>
              <a:t>Expected Outcome</a:t>
            </a:r>
            <a:endParaRPr/>
          </a:p>
        </p:txBody>
      </p:sp>
      <p:sp>
        <p:nvSpPr>
          <p:cNvPr id="704234422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IN" sz="2400" b="1">
                <a:latin typeface="+mj-lt"/>
              </a:rPr>
              <a:t>User-Centric Platform</a:t>
            </a:r>
            <a:r>
              <a:rPr lang="en-IN" sz="2400">
                <a:latin typeface="+mj-lt"/>
              </a:rPr>
              <a:t>: Simplifies crypto trading for both beginners and experts.</a:t>
            </a:r>
            <a:endParaRPr/>
          </a:p>
          <a:p>
            <a:pPr>
              <a:defRPr/>
            </a:pPr>
            <a:r>
              <a:rPr lang="en-IN" sz="2400" b="1">
                <a:latin typeface="+mj-lt"/>
              </a:rPr>
              <a:t>AI Assistance</a:t>
            </a:r>
            <a:r>
              <a:rPr lang="en-IN" sz="2400">
                <a:latin typeface="+mj-lt"/>
              </a:rPr>
              <a:t>: Provides instant, data-backed crypto insights for informed decisions.</a:t>
            </a:r>
            <a:endParaRPr/>
          </a:p>
          <a:p>
            <a:pPr>
              <a:defRPr/>
            </a:pPr>
            <a:r>
              <a:rPr lang="en-IN" sz="2400" b="1">
                <a:latin typeface="+mj-lt"/>
              </a:rPr>
              <a:t>Comprehensive Wallet</a:t>
            </a:r>
            <a:r>
              <a:rPr lang="en-IN" sz="2400">
                <a:latin typeface="+mj-lt"/>
              </a:rPr>
              <a:t>: Unified solution for transfers, withdrawals, deposits, and history tracking.</a:t>
            </a:r>
            <a:endParaRPr/>
          </a:p>
          <a:p>
            <a:pPr>
              <a:defRPr/>
            </a:pPr>
            <a:r>
              <a:rPr lang="en-IN" sz="2400" b="1">
                <a:latin typeface="+mj-lt"/>
              </a:rPr>
              <a:t>Enhanced Security</a:t>
            </a:r>
            <a:r>
              <a:rPr lang="en-IN" sz="2400">
                <a:latin typeface="+mj-lt"/>
              </a:rPr>
              <a:t>: Multi-layered authentication to safeguard assets.</a:t>
            </a:r>
            <a:endParaRPr/>
          </a:p>
          <a:p>
            <a:pPr>
              <a:defRPr/>
            </a:pPr>
            <a:r>
              <a:rPr lang="en-IN" sz="2400" b="1">
                <a:latin typeface="+mj-lt"/>
              </a:rPr>
              <a:t>Market Relevance</a:t>
            </a:r>
            <a:r>
              <a:rPr lang="en-IN" sz="2400">
                <a:latin typeface="+mj-lt"/>
              </a:rPr>
              <a:t>: Bridges gap between traditional exchanges and smart AI-driven platforms.</a:t>
            </a:r>
            <a:endParaRPr/>
          </a:p>
          <a:p>
            <a:pPr>
              <a:defRPr/>
            </a:pPr>
            <a:r>
              <a:rPr lang="en-IN" sz="2400" b="1">
                <a:latin typeface="+mj-lt"/>
              </a:rPr>
              <a:t>Impact</a:t>
            </a:r>
            <a:r>
              <a:rPr lang="en-IN" sz="2400">
                <a:latin typeface="+mj-lt"/>
              </a:rPr>
              <a:t>: Helps democratize cryptocurrency trading in India with transparency, security, and accessibility.</a:t>
            </a:r>
            <a:endParaRPr/>
          </a:p>
        </p:txBody>
      </p:sp>
      <p:sp>
        <p:nvSpPr>
          <p:cNvPr id="49435799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80E33B-3B1D-41CF-87B6-71715FF43E8C}" type="slidenum">
              <a:rPr lang="en-IN"/>
              <a:t>7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:push dir="u"/>
      </p:transition>
    </mc:Choice>
    <mc:Fallback xmlns="" xmlns:m="http://schemas.openxmlformats.org/officeDocument/2006/math" xmlns:w="http://schemas.openxmlformats.org/wordprocessingml/2006/main">
      <p:transition spd="slow" advClick="1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8402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>
                <a:latin typeface="Times New Roman"/>
                <a:cs typeface="Times New Roman"/>
              </a:rPr>
              <a:t>References</a:t>
            </a:r>
            <a:endParaRPr/>
          </a:p>
        </p:txBody>
      </p:sp>
      <p:sp>
        <p:nvSpPr>
          <p:cNvPr id="1059693985" name="Content Placeholder 2"/>
          <p:cNvSpPr>
            <a:spLocks noGrp="1"/>
          </p:cNvSpPr>
          <p:nvPr>
            <p:ph idx="1"/>
          </p:nvPr>
        </p:nvSpPr>
        <p:spPr bwMode="auto">
          <a:xfrm>
            <a:off x="263879" y="1576551"/>
            <a:ext cx="11594224" cy="482818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Data &amp; External APIs :-</a:t>
            </a:r>
            <a:endParaRPr sz="28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lang="en-US" sz="2800" b="1" i="0" u="none" strike="noStrike" cap="none" spc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CoinGecko</a:t>
            </a: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800" b="0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For comprehensive cryptocurrency data, charts, and market information.</a:t>
            </a:r>
            <a:endParaRPr sz="28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Link:</a:t>
            </a:r>
            <a:r>
              <a:rPr lang="en-US" sz="2800" b="0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sng" strike="noStrike" cap="none" spc="0" dirty="0">
                <a:solidFill>
                  <a:schemeClr val="hlink"/>
                </a:solidFill>
                <a:latin typeface="Calibri"/>
                <a:ea typeface="Calibri"/>
                <a:cs typeface="Calibri"/>
                <a:hlinkClick r:id="rId3" tooltip="https://www.coingecko.com/"/>
              </a:rPr>
              <a:t>https://www.coingecko.com/</a:t>
            </a:r>
            <a:endParaRPr sz="28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Gemini:</a:t>
            </a:r>
            <a:r>
              <a:rPr lang="en-US" sz="2800" b="0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For exchange data, API services, and market insights.</a:t>
            </a:r>
            <a:endParaRPr sz="2800" b="0" i="0" u="none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2800" b="0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Link:</a:t>
            </a:r>
            <a:r>
              <a:rPr lang="en-US" sz="2800" b="0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sng" strike="noStrike" cap="none" spc="0" dirty="0">
                <a:solidFill>
                  <a:schemeClr val="hlink"/>
                </a:solidFill>
                <a:latin typeface="Calibri"/>
                <a:ea typeface="Calibri"/>
                <a:cs typeface="Calibri"/>
                <a:hlinkClick r:id="rId4" tooltip="https://www.gemini.com/"/>
              </a:rPr>
              <a:t>https://www.gemini.com/</a:t>
            </a:r>
            <a:endParaRPr sz="28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Diagramming &amp; Charting Tools</a:t>
            </a:r>
            <a:r>
              <a:rPr lang="en-US" sz="28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:-</a:t>
            </a:r>
            <a:endParaRPr sz="28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</a:t>
            </a: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Eraser:</a:t>
            </a:r>
            <a:r>
              <a:rPr lang="en-US" sz="2800" b="0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Used for creating diagrams, wireframes, and architectural visuals.</a:t>
            </a:r>
            <a:endParaRPr sz="28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</a:t>
            </a: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Link:</a:t>
            </a:r>
            <a:r>
              <a:rPr lang="en-US" sz="2800" b="0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sng" strike="noStrike" cap="none" spc="0" dirty="0">
                <a:solidFill>
                  <a:schemeClr val="hlink"/>
                </a:solidFill>
                <a:latin typeface="Calibri"/>
                <a:ea typeface="Calibri"/>
                <a:cs typeface="Calibri"/>
                <a:hlinkClick r:id="rId5" tooltip="https://www.eraser.io/"/>
              </a:rPr>
              <a:t>https://www.eraser.io/</a:t>
            </a:r>
            <a:endParaRPr sz="28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</a:t>
            </a: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Mermaid Chart:</a:t>
            </a:r>
            <a:r>
              <a:rPr lang="en-US" sz="2800" b="0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For generating diagrams and flowcharts from text-based code.</a:t>
            </a:r>
            <a:endParaRPr sz="28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</a:t>
            </a: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Link:</a:t>
            </a:r>
            <a:r>
              <a:rPr lang="en-US" sz="2800" b="0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sng" strike="noStrike" cap="none" spc="0" dirty="0">
                <a:solidFill>
                  <a:schemeClr val="hlink"/>
                </a:solidFill>
                <a:latin typeface="Calibri"/>
                <a:ea typeface="Calibri"/>
                <a:cs typeface="Calibri"/>
                <a:hlinkClick r:id="rId6" tooltip="https://www.mermaidchart.com/"/>
              </a:rPr>
              <a:t>https://www.mermaidchart.com/</a:t>
            </a:r>
            <a:endParaRPr sz="28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Payment Gateways :-</a:t>
            </a:r>
            <a:endParaRPr sz="28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</a:t>
            </a:r>
            <a:r>
              <a:rPr lang="en-US" sz="2800" b="1" i="0" u="none" strike="noStrike" cap="none" spc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Razorpay</a:t>
            </a: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800" b="0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For processing payments, particularly within the Indian market.</a:t>
            </a:r>
            <a:endParaRPr sz="28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</a:t>
            </a: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Link:</a:t>
            </a:r>
            <a:r>
              <a:rPr lang="en-US" sz="2800" b="0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sng" strike="noStrike" cap="none" spc="0" dirty="0">
                <a:solidFill>
                  <a:schemeClr val="hlink"/>
                </a:solidFill>
                <a:latin typeface="Calibri"/>
                <a:ea typeface="Calibri"/>
                <a:cs typeface="Calibri"/>
                <a:hlinkClick r:id="rId7" tooltip="https://razorpay.com/"/>
              </a:rPr>
              <a:t>https://razorpay.com/</a:t>
            </a:r>
            <a:endParaRPr sz="28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Stripe:</a:t>
            </a:r>
            <a:r>
              <a:rPr lang="en-US" sz="2800" b="0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For global payment processing and financial infrastructure.</a:t>
            </a:r>
            <a:endParaRPr sz="2800" dirty="0"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</a:t>
            </a:r>
            <a:r>
              <a:rPr lang="en-US" sz="2800" b="1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Link:</a:t>
            </a:r>
            <a:r>
              <a:rPr lang="en-US" sz="2800" b="0" i="0" u="none" strike="noStrike" cap="none" spc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sng" strike="noStrike" cap="none" spc="0" dirty="0">
                <a:solidFill>
                  <a:schemeClr val="hlink"/>
                </a:solidFill>
                <a:latin typeface="Calibri"/>
                <a:ea typeface="Calibri"/>
                <a:cs typeface="Calibri"/>
                <a:hlinkClick r:id="rId8" tooltip="https://stripe.com/"/>
              </a:rPr>
              <a:t>https://stripe.com/</a:t>
            </a:r>
            <a:endParaRPr sz="11000" dirty="0">
              <a:latin typeface="Calibri"/>
              <a:cs typeface="Calibri"/>
            </a:endParaRPr>
          </a:p>
        </p:txBody>
      </p:sp>
      <p:sp>
        <p:nvSpPr>
          <p:cNvPr id="84948305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FF40F-C6D7-0A9C-B8D6-1445238D1B36}" type="slidenum">
              <a:rPr lang="en-IN"/>
              <a:t>8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libri-Cambria">
      <a:majorFont>
        <a:latin typeface="Calibri"/>
        <a:ea typeface="Arial"/>
        <a:cs typeface="Arial"/>
      </a:majorFont>
      <a:minorFont>
        <a:latin typeface="Cambria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750</Words>
  <Application>Microsoft Office PowerPoint</Application>
  <PresentationFormat>Widescreen</PresentationFormat>
  <Paragraphs>78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</vt:lpstr>
      <vt:lpstr>CIDFont+F1</vt:lpstr>
      <vt:lpstr>Segoe UI</vt:lpstr>
      <vt:lpstr>Times New Roman</vt:lpstr>
      <vt:lpstr>Office Theme</vt:lpstr>
      <vt:lpstr>Sarvajanik College of Engineering and Technology Department of Information and Technology  Subject: Project-I                    Code: BTIT16701</vt:lpstr>
      <vt:lpstr>CryptoTradeX is a secure, scalable, and user-friendly cryptocurrency trading platform.Built to simplify crypto trading for both beginners and advanced traders, ensuring smooth user experience and robust security. It integrates AI-powered chat assistance, real-time market insights, and      advanced wallet features into a unified ecosystem. Relevance: -- Global crypto adoption is expected to exceed 560 million users in 2025,with              India ranking among the top countries in adoption. -- Most existing platforms overwhelm users with complexity; 70% of new     investors report difficulty in understanding crypto interfaces. -- Security incidents like exchange hacks and wallet breaches highlight the     urgent need for strong, multi-layered protection.       </vt:lpstr>
      <vt:lpstr>Problem Definition</vt:lpstr>
      <vt:lpstr>Motivation</vt:lpstr>
      <vt:lpstr>Methodology</vt:lpstr>
      <vt:lpstr>Timeline Chart for Project Work</vt:lpstr>
      <vt:lpstr>Expected Outcome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asus</cp:lastModifiedBy>
  <cp:revision>18</cp:revision>
  <dcterms:created xsi:type="dcterms:W3CDTF">2024-08-22T05:23:39Z</dcterms:created>
  <dcterms:modified xsi:type="dcterms:W3CDTF">2025-10-04T06:12:38Z</dcterms:modified>
</cp:coreProperties>
</file>